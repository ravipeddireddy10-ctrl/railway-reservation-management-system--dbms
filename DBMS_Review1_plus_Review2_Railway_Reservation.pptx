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Default Extension="jpeg" ContentType="image/jpeg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6" r:id="rId13"/>
    <p:sldId id="301" r:id="rId501"/>
    <p:sldId id="302" r:id="rId502"/>
    <p:sldId id="303" r:id="rId503"/>
    <p:sldId id="304" r:id="rId504"/>
    <p:sldId id="305" r:id="rId505"/>
    <p:sldId id="306" r:id="rId506"/>
    <p:sldId id="307" r:id="rId507"/>
    <p:sldId id="308" r:id="rId508"/>
    <p:sldId id="309" r:id="rId509"/>
    <p:sldId id="310" r:id="rId510"/>
    <p:sldId id="311" r:id="rId511"/>
    <p:sldId id="312" r:id="rId512"/>
    <p:sldId id="313" r:id="rId513"/>
    <p:sldId id="314" r:id="rId514"/>
    <p:sldId id="315" r:id="rId515"/>
    <p:sldId id="316" r:id="rId516"/>
    <p:sldId id="317" r:id="rId517"/>
    <p:sldId id="318" r:id="rId518"/>
    <p:sldId id="319" r:id="rId519"/>
    <p:sldId id="320" r:id="rId520"/>
    <p:sldId id="321" r:id="rId521"/>
    <p:sldId id="322" r:id="rId522"/>
    <p:sldId id="323" r:id="rId523"/>
    <p:sldId id="324" r:id="rId524"/>
    <p:sldId id="325" r:id="rId525"/>
    <p:sldId id="326" r:id="rId526"/>
    <p:sldId id="327" r:id="rId527"/>
    <p:sldId id="328" r:id="rId528"/>
    <p:sldId id="329" r:id="rId529"/>
    <p:sldId id="330" r:id="rId530"/>
    <p:sldId id="331" r:id="rId531"/>
    <p:sldId id="332" r:id="rId532"/>
    <p:sldId id="333" r:id="rId533"/>
    <p:sldId id="334" r:id="rId534"/>
    <p:sldId id="335" r:id="rId535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7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17" dt="2026-08-17T05:45:50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7" autoAdjust="0"/>
    <p:restoredTop sz="94624" autoAdjust="0"/>
  </p:normalViewPr>
  <p:slideViewPr>
    <p:cSldViewPr showGuides="1">
      <p:cViewPr>
        <p:scale>
          <a:sx n="70" d="100"/>
          <a:sy n="70" d="100"/>
        </p:scale>
        <p:origin x="-636" y="66"/>
      </p:cViewPr>
      <p:guideLst>
        <p:guide orient="horz" pos="2160"/>
        <p:guide pos="38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7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Relationship Id="rId501" Type="http://schemas.openxmlformats.org/officeDocument/2006/relationships/slide" Target="slides/slide101.xml"/><Relationship Id="rId502" Type="http://schemas.openxmlformats.org/officeDocument/2006/relationships/slide" Target="slides/slide102.xml"/><Relationship Id="rId503" Type="http://schemas.openxmlformats.org/officeDocument/2006/relationships/slide" Target="slides/slide103.xml"/><Relationship Id="rId504" Type="http://schemas.openxmlformats.org/officeDocument/2006/relationships/slide" Target="slides/slide104.xml"/><Relationship Id="rId505" Type="http://schemas.openxmlformats.org/officeDocument/2006/relationships/slide" Target="slides/slide105.xml"/><Relationship Id="rId506" Type="http://schemas.openxmlformats.org/officeDocument/2006/relationships/slide" Target="slides/slide106.xml"/><Relationship Id="rId507" Type="http://schemas.openxmlformats.org/officeDocument/2006/relationships/slide" Target="slides/slide107.xml"/><Relationship Id="rId508" Type="http://schemas.openxmlformats.org/officeDocument/2006/relationships/slide" Target="slides/slide108.xml"/><Relationship Id="rId509" Type="http://schemas.openxmlformats.org/officeDocument/2006/relationships/slide" Target="slides/slide109.xml"/><Relationship Id="rId510" Type="http://schemas.openxmlformats.org/officeDocument/2006/relationships/slide" Target="slides/slide110.xml"/><Relationship Id="rId511" Type="http://schemas.openxmlformats.org/officeDocument/2006/relationships/slide" Target="slides/slide111.xml"/><Relationship Id="rId512" Type="http://schemas.openxmlformats.org/officeDocument/2006/relationships/slide" Target="slides/slide112.xml"/><Relationship Id="rId513" Type="http://schemas.openxmlformats.org/officeDocument/2006/relationships/slide" Target="slides/slide113.xml"/><Relationship Id="rId514" Type="http://schemas.openxmlformats.org/officeDocument/2006/relationships/slide" Target="slides/slide114.xml"/><Relationship Id="rId515" Type="http://schemas.openxmlformats.org/officeDocument/2006/relationships/slide" Target="slides/slide115.xml"/><Relationship Id="rId516" Type="http://schemas.openxmlformats.org/officeDocument/2006/relationships/slide" Target="slides/slide116.xml"/><Relationship Id="rId517" Type="http://schemas.openxmlformats.org/officeDocument/2006/relationships/slide" Target="slides/slide117.xml"/><Relationship Id="rId518" Type="http://schemas.openxmlformats.org/officeDocument/2006/relationships/slide" Target="slides/slide118.xml"/><Relationship Id="rId519" Type="http://schemas.openxmlformats.org/officeDocument/2006/relationships/slide" Target="slides/slide119.xml"/><Relationship Id="rId520" Type="http://schemas.openxmlformats.org/officeDocument/2006/relationships/slide" Target="slides/slide120.xml"/><Relationship Id="rId521" Type="http://schemas.openxmlformats.org/officeDocument/2006/relationships/slide" Target="slides/slide121.xml"/><Relationship Id="rId522" Type="http://schemas.openxmlformats.org/officeDocument/2006/relationships/slide" Target="slides/slide122.xml"/><Relationship Id="rId523" Type="http://schemas.openxmlformats.org/officeDocument/2006/relationships/slide" Target="slides/slide123.xml"/><Relationship Id="rId524" Type="http://schemas.openxmlformats.org/officeDocument/2006/relationships/slide" Target="slides/slide124.xml"/><Relationship Id="rId525" Type="http://schemas.openxmlformats.org/officeDocument/2006/relationships/slide" Target="slides/slide125.xml"/><Relationship Id="rId526" Type="http://schemas.openxmlformats.org/officeDocument/2006/relationships/slide" Target="slides/slide126.xml"/><Relationship Id="rId527" Type="http://schemas.openxmlformats.org/officeDocument/2006/relationships/slide" Target="slides/slide127.xml"/><Relationship Id="rId528" Type="http://schemas.openxmlformats.org/officeDocument/2006/relationships/slide" Target="slides/slide128.xml"/><Relationship Id="rId529" Type="http://schemas.openxmlformats.org/officeDocument/2006/relationships/slide" Target="slides/slide129.xml"/><Relationship Id="rId530" Type="http://schemas.openxmlformats.org/officeDocument/2006/relationships/slide" Target="slides/slide130.xml"/><Relationship Id="rId531" Type="http://schemas.openxmlformats.org/officeDocument/2006/relationships/slide" Target="slides/slide131.xml"/><Relationship Id="rId532" Type="http://schemas.openxmlformats.org/officeDocument/2006/relationships/slide" Target="slides/slide132.xml"/><Relationship Id="rId533" Type="http://schemas.openxmlformats.org/officeDocument/2006/relationships/slide" Target="slides/slide133.xml"/><Relationship Id="rId534" Type="http://schemas.openxmlformats.org/officeDocument/2006/relationships/slide" Target="slides/slide134.xml"/><Relationship Id="rId535" Type="http://schemas.openxmlformats.org/officeDocument/2006/relationships/slide" Target="slides/slide1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0000000-0000-0000-0000-000000000000}"/>
    <pc:docChg chg="modSld">
      <pc:chgData name="" userId="" providerId="" clId="Web-{00000000-0000-0000-0000-000000000000}" dt="2026-08-17T05:23:28.914" v="1" actId="1076"/>
      <pc:docMkLst>
        <pc:docMk/>
      </pc:docMkLst>
      <pc:sldChg chg="modSp">
        <pc:chgData name="" userId="" providerId="" clId="Web-{00000000-0000-0000-0000-000000000000}" dt="2026-08-17T05:23:28.914" v="1" actId="1076"/>
        <pc:sldMkLst>
          <pc:docMk/>
          <pc:sldMk cId="0" sldId="262"/>
        </pc:sldMkLst>
        <pc:spChg chg="mod">
          <ac:chgData name="" userId="" providerId="" clId="Web-{00000000-0000-0000-0000-000000000000}" dt="2026-08-17T05:23:16.711" v="0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" userId="" providerId="" clId="Web-{00000000-0000-0000-0000-000000000000}" dt="2026-08-17T05:23:28.914" v="1" actId="1076"/>
          <ac:spMkLst>
            <pc:docMk/>
            <pc:sldMk cId="0" sldId="262"/>
            <ac:spMk id="18" creationId="{00000000-0000-0000-0000-000000000000}"/>
          </ac:spMkLst>
        </pc:spChg>
      </pc:sldChg>
    </pc:docChg>
  </pc:docChgLst>
  <pc:docChgLst>
    <pc:chgData name="25B11CS984" userId="S::25b11cs984@adityauniversity.in::ad3e155a-0bbb-4df2-823d-e4e513bb1ab9" providerId="AD" clId="Web-{00000000-0000-0000-0000-000000000000}"/>
    <pc:docChg chg="modSld">
      <pc:chgData name="25B11CS984" userId="S::25b11cs984@adityauniversity.in::ad3e155a-0bbb-4df2-823d-e4e513bb1ab9" providerId="AD" clId="Web-{00000000-0000-0000-0000-000000000000}" dt="2026-08-17T05:45:50.104" v="77" actId="1076"/>
      <pc:docMkLst>
        <pc:docMk/>
      </pc:docMkLst>
      <pc:sldChg chg="delSp modSp">
        <pc:chgData name="25B11CS984" userId="S::25b11cs984@adityauniversity.in::ad3e155a-0bbb-4df2-823d-e4e513bb1ab9" providerId="AD" clId="Web-{00000000-0000-0000-0000-000000000000}" dt="2026-08-17T05:45:50.104" v="77" actId="1076"/>
        <pc:sldMkLst>
          <pc:docMk/>
          <pc:sldMk cId="0" sldId="256"/>
        </pc:sldMkLst>
        <pc:spChg chg="del">
          <ac:chgData name="25B11CS984" userId="S::25b11cs984@adityauniversity.in::ad3e155a-0bbb-4df2-823d-e4e513bb1ab9" providerId="AD" clId="Web-{00000000-0000-0000-0000-000000000000}" dt="2026-08-17T05:45:37.447" v="75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25B11CS984" userId="S::25b11cs984@adityauniversity.in::ad3e155a-0bbb-4df2-823d-e4e513bb1ab9" providerId="AD" clId="Web-{00000000-0000-0000-0000-000000000000}" dt="2026-08-17T05:45:32.900" v="74"/>
          <ac:spMkLst>
            <pc:docMk/>
            <pc:sldMk cId="0" sldId="256"/>
            <ac:spMk id="6" creationId="{00000000-0000-0000-0000-000000000000}"/>
          </ac:spMkLst>
        </pc:spChg>
        <pc:spChg chg="mod">
          <ac:chgData name="25B11CS984" userId="S::25b11cs984@adityauniversity.in::ad3e155a-0bbb-4df2-823d-e4e513bb1ab9" providerId="AD" clId="Web-{00000000-0000-0000-0000-000000000000}" dt="2026-08-17T05:45:46.057" v="76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25B11CS984" userId="S::25b11cs984@adityauniversity.in::ad3e155a-0bbb-4df2-823d-e4e513bb1ab9" providerId="AD" clId="Web-{00000000-0000-0000-0000-000000000000}" dt="2026-08-17T05:45:50.104" v="77" actId="1076"/>
          <ac:spMkLst>
            <pc:docMk/>
            <pc:sldMk cId="0" sldId="256"/>
            <ac:spMk id="8" creationId="{00000000-0000-0000-0000-000000000000}"/>
          </ac:spMkLst>
        </pc:spChg>
        <pc:picChg chg="mod">
          <ac:chgData name="25B11CS984" userId="S::25b11cs984@adityauniversity.in::ad3e155a-0bbb-4df2-823d-e4e513bb1ab9" providerId="AD" clId="Web-{00000000-0000-0000-0000-000000000000}" dt="2026-08-17T05:41:42.507" v="28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modSp">
        <pc:chgData name="25B11CS984" userId="S::25b11cs984@adityauniversity.in::ad3e155a-0bbb-4df2-823d-e4e513bb1ab9" providerId="AD" clId="Web-{00000000-0000-0000-0000-000000000000}" dt="2026-08-17T05:36:42.393" v="26" actId="1076"/>
        <pc:sldMkLst>
          <pc:docMk/>
          <pc:sldMk cId="0" sldId="262"/>
        </pc:sldMkLst>
        <pc:spChg chg="mod">
          <ac:chgData name="25B11CS984" userId="S::25b11cs984@adityauniversity.in::ad3e155a-0bbb-4df2-823d-e4e513bb1ab9" providerId="AD" clId="Web-{00000000-0000-0000-0000-000000000000}" dt="2026-08-17T05:18:02.394" v="2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25B11CS984" userId="S::25b11cs984@adityauniversity.in::ad3e155a-0bbb-4df2-823d-e4e513bb1ab9" providerId="AD" clId="Web-{00000000-0000-0000-0000-000000000000}" dt="2026-08-17T05:19:25.879" v="11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25B11CS984" userId="S::25b11cs984@adityauniversity.in::ad3e155a-0bbb-4df2-823d-e4e513bb1ab9" providerId="AD" clId="Web-{00000000-0000-0000-0000-000000000000}" dt="2026-08-17T05:18:36.285" v="6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25B11CS984" userId="S::25b11cs984@adityauniversity.in::ad3e155a-0bbb-4df2-823d-e4e513bb1ab9" providerId="AD" clId="Web-{00000000-0000-0000-0000-000000000000}" dt="2026-08-17T05:18:44.894" v="7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25B11CS984" userId="S::25b11cs984@adityauniversity.in::ad3e155a-0bbb-4df2-823d-e4e513bb1ab9" providerId="AD" clId="Web-{00000000-0000-0000-0000-000000000000}" dt="2026-08-17T05:18:53.504" v="8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25B11CS984" userId="S::25b11cs984@adityauniversity.in::ad3e155a-0bbb-4df2-823d-e4e513bb1ab9" providerId="AD" clId="Web-{00000000-0000-0000-0000-000000000000}" dt="2026-08-17T05:26:18.994" v="25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25B11CS984" userId="S::25b11cs984@adityauniversity.in::ad3e155a-0bbb-4df2-823d-e4e513bb1ab9" providerId="AD" clId="Web-{00000000-0000-0000-0000-000000000000}" dt="2026-08-17T05:25:38.994" v="21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25B11CS984" userId="S::25b11cs984@adityauniversity.in::ad3e155a-0bbb-4df2-823d-e4e513bb1ab9" providerId="AD" clId="Web-{00000000-0000-0000-0000-000000000000}" dt="2026-08-17T05:25:12.650" v="19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25B11CS984" userId="S::25b11cs984@adityauniversity.in::ad3e155a-0bbb-4df2-823d-e4e513bb1ab9" providerId="AD" clId="Web-{00000000-0000-0000-0000-000000000000}" dt="2026-08-17T05:25:18.728" v="20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25B11CS984" userId="S::25b11cs984@adityauniversity.in::ad3e155a-0bbb-4df2-823d-e4e513bb1ab9" providerId="AD" clId="Web-{00000000-0000-0000-0000-000000000000}" dt="2026-08-17T05:36:42.393" v="26" actId="1076"/>
          <ac:spMkLst>
            <pc:docMk/>
            <pc:sldMk cId="0" sldId="262"/>
            <ac:spMk id="37" creationId="{00000000-0000-0000-0000-000000000000}"/>
          </ac:spMkLst>
        </pc:spChg>
        <pc:spChg chg="mod">
          <ac:chgData name="25B11CS984" userId="S::25b11cs984@adityauniversity.in::ad3e155a-0bbb-4df2-823d-e4e513bb1ab9" providerId="AD" clId="Web-{00000000-0000-0000-0000-000000000000}" dt="2026-08-17T05:25:58.228" v="22" actId="1076"/>
          <ac:spMkLst>
            <pc:docMk/>
            <pc:sldMk cId="0" sldId="262"/>
            <ac:spMk id="39" creationId="{00000000-0000-0000-0000-000000000000}"/>
          </ac:spMkLst>
        </pc:spChg>
      </pc:sldChg>
      <pc:sldChg chg="delSp modSp">
        <pc:chgData name="25B11CS984" userId="S::25b11cs984@adityauniversity.in::ad3e155a-0bbb-4df2-823d-e4e513bb1ab9" providerId="AD" clId="Web-{00000000-0000-0000-0000-000000000000}" dt="2026-08-17T05:42:22.585" v="32"/>
        <pc:sldMkLst>
          <pc:docMk/>
          <pc:sldMk cId="0" sldId="267"/>
        </pc:sldMkLst>
        <pc:spChg chg="del mod">
          <ac:chgData name="25B11CS984" userId="S::25b11cs984@adityauniversity.in::ad3e155a-0bbb-4df2-823d-e4e513bb1ab9" providerId="AD" clId="Web-{00000000-0000-0000-0000-000000000000}" dt="2026-08-17T05:42:22.585" v="32"/>
          <ac:spMkLst>
            <pc:docMk/>
            <pc:sldMk cId="0" sldId="267"/>
            <ac:spMk id="4" creationId="{00000000-0000-0000-0000-000000000000}"/>
          </ac:spMkLst>
        </pc:spChg>
      </pc:sldChg>
      <pc:sldChg chg="modSp">
        <pc:chgData name="25B11CS984" userId="S::25b11cs984@adityauniversity.in::ad3e155a-0bbb-4df2-823d-e4e513bb1ab9" providerId="AD" clId="Web-{00000000-0000-0000-0000-000000000000}" dt="2026-08-17T05:44:37.790" v="63" actId="20577"/>
        <pc:sldMkLst>
          <pc:docMk/>
          <pc:sldMk cId="0" sldId="268"/>
        </pc:sldMkLst>
        <pc:spChg chg="mod">
          <ac:chgData name="25B11CS984" userId="S::25b11cs984@adityauniversity.in::ad3e155a-0bbb-4df2-823d-e4e513bb1ab9" providerId="AD" clId="Web-{00000000-0000-0000-0000-000000000000}" dt="2026-08-17T05:43:17.742" v="37" actId="1076"/>
          <ac:spMkLst>
            <pc:docMk/>
            <pc:sldMk cId="0" sldId="268"/>
            <ac:spMk id="3" creationId="{00000000-0000-0000-0000-000000000000}"/>
          </ac:spMkLst>
        </pc:spChg>
        <pc:spChg chg="mod">
          <ac:chgData name="25B11CS984" userId="S::25b11cs984@adityauniversity.in::ad3e155a-0bbb-4df2-823d-e4e513bb1ab9" providerId="AD" clId="Web-{00000000-0000-0000-0000-000000000000}" dt="2026-08-17T05:44:37.790" v="63" actId="20577"/>
          <ac:spMkLst>
            <pc:docMk/>
            <pc:sldMk cId="0" sldId="268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3103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887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16-08-2026</a:t>
            </a:fld>
            <a:endParaRPr lang="en-US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16-08-2026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DBMS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t>16-08-2026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image" Target="../media/r2_image-3-1.png"/><Relationship Id="rId2" Type="http://schemas.openxmlformats.org/officeDocument/2006/relationships/slideLayout" Target="../slideLayouts/slideLayout3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itya_long_logo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502010"/>
            <a:ext cx="8092440" cy="10863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057400"/>
            <a:ext cx="11201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 i="1">
                <a:solidFill>
                  <a:srgbClr val="000000"/>
                </a:solidFill>
                <a:latin typeface="Arial Black"/>
              </a:rPr>
              <a:t>RAILWAY RESERVATION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2697480"/>
            <a:ext cx="7360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1">
                <a:solidFill>
                  <a:srgbClr val="C24E1C"/>
                </a:solidFill>
                <a:latin typeface="Arial Black"/>
              </a:rPr>
              <a:t>DBMS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4195868"/>
            <a:ext cx="7726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123473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6266" y="4912193"/>
            <a:ext cx="4251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i="0">
                <a:solidFill>
                  <a:srgbClr val="123473"/>
                </a:solidFill>
                <a:latin typeface="Arial"/>
              </a:rPr>
              <a:t>Aditya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23160" y="347472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BE4E1C"/>
                </a:solidFill>
                <a:latin typeface="Georgia"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058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rial"/>
              </a:rPr>
              <a:t>• Railway reservation systems need to maintain passenger, train, station, schedule, reservation and payment information.
• Manual or fragmented records can cause duplicate bookings, incorrect seat availability and data-entry errors.
• Finding reservation history, payment details and train schedules can be time-consuming.
• A centralized database can make reservation operations more accurate, organized and efficient.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190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12/08/2026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641908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DBMS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6419088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Railway Reservation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23160" y="347472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BE4E1C"/>
                </a:solidFill>
                <a:latin typeface="Georgia"/>
              </a:rPr>
              <a:t>2.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058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rial"/>
              </a:rPr>
              <a:t>• Maintain accurate passenger, train and station records.
• Manage train schedules and reservation availability.
• Record booking, cancellation and payment information.
• Reduce duplicate records and manual errors.
• Provide quick access to reservation history and reports.
• Improve data consistency, security and overall efficiency.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190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12/08/2026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641908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DBMS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6419088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Railway Reservation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23160" y="347472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BE4E1C"/>
                </a:solidFill>
                <a:latin typeface="Georgia"/>
              </a:rPr>
              <a:t>3. End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058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rial"/>
              </a:rPr>
              <a:t>• Admin – manages trains, stations, schedules, reservations, payments and reports.
• Passenger – searches trains, checks availability, makes reservations and views booking history.
• Reservation Staff – verifies passenger details, processes bookings/cancellations and updates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190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12/08/2026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641908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DBMS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6419088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Railway Reservation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23160" y="347472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BE4E1C"/>
                </a:solidFill>
                <a:latin typeface="Georgia"/>
              </a:rPr>
              <a:t>4.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058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rial"/>
              </a:rPr>
              <a:t>• Functional Requirements
   – Admin login and train/station management
   – Passenger registration and record management
   – Train search and seat availability checking
   – Reservation, cancellation and payment processing
   – Schedule management and report generation
• Non-Functional Requirements
   – Security and authentication
   – Reliability and data consistency
   – Fast response time and usability
   – Scalability and backup/recovery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190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12/08/2026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641908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DBMS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6419088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Railway Reservation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23160" y="347472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BE4E1C"/>
                </a:solidFill>
                <a:latin typeface="Georgia"/>
              </a:rPr>
              <a:t>5. ER Design – Entity Sets, Relationship Sets &amp;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058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rial"/>
              </a:rPr>
              <a:t>• 1) ENTITY SETS — consider NOUNS (people, places, objects, events, concepts)
   – Passenger, Train, Station, Reservation, Payment, Schedule
• 2) RELATIONSHIP SETS — consider VERBS
   – Passenger books Reservation
   – Train stops at Station
   – Passenger makes Payment
• 3) ATTRIBUTES — consider descriptive properties / ADJECTIVES
   – Passenger → Name, Passenger_ID, DOB, Email, Phone
   – Train → Train_Number, Train_Name, Train_Type
   – Station → Station_ID, Station_Name, Location
   – Reservation → PNR, Journey_Date, Status, Class, Fare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190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12/08/2026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641908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DBMS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6419088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Railway Reservation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23160" y="347472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BE4E1C"/>
                </a:solidFill>
                <a:latin typeface="Georgia"/>
              </a:rPr>
              <a:t>6. Final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5156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A5A5A"/>
                </a:solidFill>
                <a:latin typeface="Arial"/>
              </a:rPr>
              <a:t>PK = Primary Key   |   FK = Foreign Key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926080" cy="1325880"/>
          </a:xfrm>
          <a:prstGeom prst="roundRect">
            <a:avLst/>
          </a:prstGeom>
          <a:solidFill>
            <a:srgbClr val="DCEBF8"/>
          </a:solidFill>
          <a:ln w="19050">
            <a:solidFill>
              <a:srgbClr val="23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2008" y="1531112"/>
            <a:ext cx="2706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5282"/>
                </a:solidFill>
                <a:latin typeface="Arial"/>
              </a:rPr>
              <a:t>PASSENGER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717040"/>
            <a:ext cx="26334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PK Passenger_ID
Name
DOB
Gender
Phone
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508760"/>
            <a:ext cx="2926080" cy="1325880"/>
          </a:xfrm>
          <a:prstGeom prst="roundRect">
            <a:avLst/>
          </a:prstGeom>
          <a:solidFill>
            <a:srgbClr val="DCEBF8"/>
          </a:solidFill>
          <a:ln w="19050">
            <a:solidFill>
              <a:srgbClr val="23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53528" y="1581912"/>
            <a:ext cx="2706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5282"/>
                </a:solidFill>
                <a:latin typeface="Arial"/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0104" y="1920240"/>
            <a:ext cx="26334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PK Train_ID
Train_Number
Train_Name
Train_Type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18279" y="2438400"/>
            <a:ext cx="2956560" cy="1722120"/>
          </a:xfrm>
          <a:prstGeom prst="roundRect">
            <a:avLst/>
          </a:prstGeom>
          <a:solidFill>
            <a:srgbClr val="DCEBF8"/>
          </a:solidFill>
          <a:ln w="19050">
            <a:solidFill>
              <a:srgbClr val="23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77207" y="2470912"/>
            <a:ext cx="27980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5282"/>
                </a:solidFill>
                <a:latin typeface="Arial"/>
              </a:rPr>
              <a:t>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943" y="2697480"/>
            <a:ext cx="272491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PK PNR
Booking_Date
Journey_Date
Class
Status
Fare
FK Passenger_ID
FK Train_ID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520" y="4734560"/>
            <a:ext cx="2905760" cy="1447800"/>
          </a:xfrm>
          <a:prstGeom prst="roundRect">
            <a:avLst/>
          </a:prstGeom>
          <a:solidFill>
            <a:srgbClr val="DCEBF8"/>
          </a:solidFill>
          <a:ln w="19050">
            <a:solidFill>
              <a:srgbClr val="23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4797552"/>
            <a:ext cx="2706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5282"/>
                </a:solidFill>
                <a:latin typeface="Arial"/>
              </a:rPr>
              <a:t>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5074920"/>
            <a:ext cx="26334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PK Payment_ID
Payment_Date
Amount
Method
Status
FK PNR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8439" y="4683760"/>
            <a:ext cx="2966720" cy="1539240"/>
          </a:xfrm>
          <a:prstGeom prst="roundRect">
            <a:avLst/>
          </a:prstGeom>
          <a:solidFill>
            <a:srgbClr val="DCEBF8"/>
          </a:solidFill>
          <a:ln w="19050">
            <a:solidFill>
              <a:srgbClr val="23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28007" y="4797552"/>
            <a:ext cx="27980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5282"/>
                </a:solidFill>
                <a:latin typeface="Arial"/>
              </a:rPr>
              <a:t>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5074920"/>
            <a:ext cx="27249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PK Schedule_ID
Arrival_Time
Departure_Time
Platform
FK Train_ID
FK Station_ID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33640" y="4653280"/>
            <a:ext cx="2926080" cy="1143000"/>
          </a:xfrm>
          <a:prstGeom prst="roundRect">
            <a:avLst/>
          </a:prstGeom>
          <a:solidFill>
            <a:srgbClr val="DCEBF8"/>
          </a:solidFill>
          <a:ln w="19050">
            <a:solidFill>
              <a:srgbClr val="23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53528" y="4736592"/>
            <a:ext cx="2706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5282"/>
                </a:solidFill>
                <a:latin typeface="Arial"/>
              </a:rPr>
              <a:t>STATION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0104" y="5074920"/>
            <a:ext cx="26334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PK Station_ID
Station_Name
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190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12/08/2026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641908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DBMS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6419088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Railway Reservation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7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346704" y="2148840"/>
            <a:ext cx="640080" cy="109728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922008" y="2148840"/>
            <a:ext cx="649223" cy="109728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920240" y="4233672"/>
            <a:ext cx="2606040" cy="448056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6922008" y="5175504"/>
            <a:ext cx="649223" cy="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519075" y="2399504"/>
            <a:ext cx="4754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rial"/>
              </a:defRPr>
            </a:pPr>
            <a:r>
              <a:t>1:M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2240280"/>
            <a:ext cx="4754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rial"/>
              </a:defRPr>
            </a:pPr>
            <a:r>
              <a:t>1:M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44800" y="4353560"/>
            <a:ext cx="4754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rial"/>
              </a:defRPr>
            </a:pPr>
            <a:r>
              <a:t>1:1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4937760"/>
            <a:ext cx="4754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rial"/>
              </a:defRPr>
            </a:pPr>
            <a:r>
              <a:t>1:M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629400" y="2697480"/>
            <a:ext cx="941831" cy="1984248"/>
          </a:xfrm>
          <a:prstGeom prst="bentConnector3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967728" y="370332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rial"/>
              </a:defRPr>
            </a:pPr>
            <a:r>
              <a:t>1:M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23160" y="347472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BE4E1C"/>
                </a:solidFill>
                <a:latin typeface="Georgia"/>
              </a:rPr>
              <a:t>7. 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rial"/>
              </a:rPr>
              <a:t>Relational tables derived from the ER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353312"/>
            <a:ext cx="4892040" cy="1234440"/>
          </a:xfrm>
          <a:prstGeom prst="roundRect">
            <a:avLst/>
          </a:prstGeom>
          <a:solidFill>
            <a:srgbClr val="DCEBF8"/>
          </a:solidFill>
          <a:ln w="19050">
            <a:solidFill>
              <a:srgbClr val="23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609344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5282"/>
                </a:solidFill>
                <a:latin typeface="Arial"/>
              </a:rPr>
              <a:t>PASSENGER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517904"/>
            <a:ext cx="3200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Passenger_ID (PK), Name, DOB, Gender, Phone, 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353312"/>
            <a:ext cx="4892040" cy="1234440"/>
          </a:xfrm>
          <a:prstGeom prst="roundRect">
            <a:avLst/>
          </a:prstGeom>
          <a:solidFill>
            <a:srgbClr val="DCEBF8"/>
          </a:solidFill>
          <a:ln w="19050">
            <a:solidFill>
              <a:srgbClr val="23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50992" y="1609344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5282"/>
                </a:solidFill>
                <a:latin typeface="Arial"/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517904"/>
            <a:ext cx="3154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Train_ID (PK), Train_Number, Train_Name, Train_Type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907792"/>
            <a:ext cx="4892040" cy="1234440"/>
          </a:xfrm>
          <a:prstGeom prst="roundRect">
            <a:avLst/>
          </a:prstGeom>
          <a:solidFill>
            <a:srgbClr val="DCEBF8"/>
          </a:solidFill>
          <a:ln w="19050">
            <a:solidFill>
              <a:srgbClr val="23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3163824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5282"/>
                </a:solidFill>
                <a:latin typeface="Arial"/>
              </a:rPr>
              <a:t>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72384"/>
            <a:ext cx="3200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PNR (PK), Booking_Date, Journey_Date, Class, Status, Fare,
Passenger_ID (FK), Train_ID (FK)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2907792"/>
            <a:ext cx="4892040" cy="1234440"/>
          </a:xfrm>
          <a:prstGeom prst="roundRect">
            <a:avLst/>
          </a:prstGeom>
          <a:solidFill>
            <a:srgbClr val="DCEBF8"/>
          </a:solidFill>
          <a:ln w="19050">
            <a:solidFill>
              <a:srgbClr val="23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50992" y="3163824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5282"/>
                </a:solidFill>
                <a:latin typeface="Arial"/>
              </a:rPr>
              <a:t>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072384"/>
            <a:ext cx="3154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Payment_ID (PK), Payment_Date, Amount, Method, Status, PNR (FK)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462272"/>
            <a:ext cx="4892040" cy="1234440"/>
          </a:xfrm>
          <a:prstGeom prst="roundRect">
            <a:avLst/>
          </a:prstGeom>
          <a:solidFill>
            <a:srgbClr val="DCEBF8"/>
          </a:solidFill>
          <a:ln w="19050">
            <a:solidFill>
              <a:srgbClr val="23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" y="4718304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5282"/>
                </a:solidFill>
                <a:latin typeface="Arial"/>
              </a:rPr>
              <a:t>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626864"/>
            <a:ext cx="3200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Schedule_ID (PK), Arrival_Time, Departure_Time, Platform,
Train_ID (FK), Station_ID (FK)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462272"/>
            <a:ext cx="4892040" cy="1234440"/>
          </a:xfrm>
          <a:prstGeom prst="roundRect">
            <a:avLst/>
          </a:prstGeom>
          <a:solidFill>
            <a:srgbClr val="DCEBF8"/>
          </a:solidFill>
          <a:ln w="19050">
            <a:solidFill>
              <a:srgbClr val="23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50992" y="4718304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5282"/>
                </a:solidFill>
                <a:latin typeface="Arial"/>
              </a:rPr>
              <a:t>STATION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626864"/>
            <a:ext cx="3154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Station_ID (PK), Station_Name, 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943600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PK = Primary Key     FK = Foreign Key     |     Foreign keys establish relationships between related tables.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190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12/08/2026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641908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DBMS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6419088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Railway Reservation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23160" y="347472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BE4E1C"/>
                </a:solidFill>
                <a:latin typeface="Georgia"/>
              </a:rPr>
              <a:t>8. Relationships &amp; Cardinality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058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rial"/>
              </a:rPr>
              <a:t>• Passenger → Reservation = 1:M – one passenger can make many reservations.
• Train → Reservation = 1:M – one train can have many reservations over different dates.
• Reservation → Payment = 1:1 – each reservation has one payment record in this project model.
• Train → Schedule = 1:M – one train can have multiple schedule records.
• Station → Schedule = 1:M – one station can appear in multiple train schedules.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190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12/08/2026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641908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DBMS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6419088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Railway Reservation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ailway reservation management system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0" y="0"/>
            <a:ext cx="119567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23160" y="347472"/>
            <a:ext cx="8229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BE4E1C"/>
                </a:solidFill>
                <a:latin typeface="Georgia"/>
              </a:rP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058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rial"/>
              </a:rPr>
              <a:t>• The Railway Reservation Management System provides a structured way to manage railway reservation operations.
• The ER model defines the required entities, attributes, keys, relationships and cardinalities.
• Primary keys and foreign keys keep the database organized and maintain valid relationships.
• The system can later be extended with online payments, notifications, live train tracking and analytics.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1908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12/08/2026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641908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DBMS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6419088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Railway Reservation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057400"/>
            <a:ext cx="9418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BE4E1C"/>
                </a:solidFill>
                <a:latin typeface="Georgia"/>
              </a:rPr>
              <a:t>THANK YOU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62251" y="1940484"/>
            <a:ext cx="9418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BE4E1C"/>
                </a:solidFill>
                <a:latin typeface="Georgia"/>
              </a:rPr>
              <a:t>PROJECT TEAM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0824" y="2979534"/>
            <a:ext cx="850392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800" b="0">
                <a:solidFill>
                  <a:srgbClr val="232323"/>
                </a:solidFill>
                <a:latin typeface="Arial"/>
              </a:rPr>
              <a:t>Railway Reservation Management System</a:t>
            </a:r>
            <a:r>
              <a:rPr sz="1800" b="0" dirty="0">
                <a:solidFill>
                  <a:srgbClr val="232323"/>
                </a:solidFill>
                <a:latin typeface="Arial"/>
              </a:rPr>
              <a:t>
</a:t>
            </a:r>
            <a:r>
              <a:rPr sz="1800" b="0">
                <a:solidFill>
                  <a:srgbClr val="232323"/>
                </a:solidFill>
                <a:latin typeface="Arial"/>
              </a:rPr>
              <a:t>Pedireddy Ravi — 25B11CS984</a:t>
            </a:r>
            <a:r>
              <a:rPr sz="1800" b="0" dirty="0">
                <a:solidFill>
                  <a:srgbClr val="232323"/>
                </a:solidFill>
                <a:latin typeface="Arial"/>
              </a:rPr>
              <a:t>
</a:t>
            </a:r>
            <a:r>
              <a:rPr sz="1800" b="0">
                <a:solidFill>
                  <a:srgbClr val="232323"/>
                </a:solidFill>
                <a:latin typeface="Arial"/>
              </a:rPr>
              <a:t>Y. Ajay — 25B11CS747</a:t>
            </a:r>
            <a:r>
              <a:rPr sz="1800" b="0" dirty="0">
                <a:solidFill>
                  <a:srgbClr val="232323"/>
                </a:solidFill>
                <a:latin typeface="Arial"/>
              </a:rPr>
              <a:t>
</a:t>
            </a:r>
            <a:r>
              <a:rPr sz="1800" b="0">
                <a:solidFill>
                  <a:srgbClr val="232323"/>
                </a:solidFill>
                <a:latin typeface="Arial"/>
              </a:rPr>
              <a:t>V. Pavan — 25B11CS728</a:t>
            </a:r>
            <a:r>
              <a:rPr sz="1800" b="0" dirty="0">
                <a:solidFill>
                  <a:srgbClr val="232323"/>
                </a:solidFill>
                <a:latin typeface="Arial"/>
              </a:rPr>
              <a:t>
</a:t>
            </a:r>
            <a:r>
              <a:rPr lang="en-US">
                <a:solidFill>
                  <a:srgbClr val="232323"/>
                </a:solidFill>
                <a:latin typeface="Arial"/>
              </a:rPr>
              <a:t>T. Viswas— 26B21CS078</a:t>
            </a:r>
            <a:r>
              <a:rPr lang="en-US" dirty="0">
                <a:solidFill>
                  <a:srgbClr val="232323"/>
                </a:solidFill>
                <a:latin typeface="Arial"/>
              </a:rPr>
              <a:t> </a:t>
            </a:r>
            <a:endParaRPr lang="en-US" sz="1800" b="0" dirty="0">
              <a:solidFill>
                <a:srgbClr val="232323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26080" y="6419088"/>
            <a:ext cx="5120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DBMS  |  Railway Reservation Management System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585" y="1755604"/>
            <a:ext cx="10972526" cy="609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33" b="1" i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RESERVATION MANAGEMENT SYSTEM</a:t>
            </a:r>
            <a:endParaRPr lang="en-US" sz="2933" dirty="0"/>
          </a:p>
        </p:txBody>
      </p:sp>
      <p:sp>
        <p:nvSpPr>
          <p:cNvPr id="3" name="Text 1"/>
          <p:cNvSpPr txBox="1"/>
          <p:nvPr/>
        </p:nvSpPr>
        <p:spPr>
          <a:xfrm>
            <a:off x="609585" y="2426147"/>
            <a:ext cx="10972526" cy="487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DBMS PROJECT REVIEW 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09585" y="3157649"/>
            <a:ext cx="10972526" cy="365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9585" y="3584358"/>
            <a:ext cx="10972526" cy="14630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3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Pedireddy Ravi (25B11CS984)</a:t>
            </a:r>
            <a:endParaRPr lang="en-US" sz="1733" dirty="0"/>
          </a:p>
          <a:p>
            <a:pPr algn="ctr" indent="0" marL="0">
              <a:buNone/>
            </a:pPr>
            <a:r>
              <a:rPr lang="en-US" sz="1733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Y. Ajay (25B11CS747)</a:t>
            </a:r>
            <a:endParaRPr lang="en-US" sz="1733" dirty="0"/>
          </a:p>
          <a:p>
            <a:pPr algn="ctr" indent="0" marL="0">
              <a:buNone/>
            </a:pPr>
            <a:r>
              <a:rPr lang="en-US" sz="1733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 Pavan (25B11CS728)</a:t>
            </a:r>
            <a:endParaRPr lang="en-US" sz="1733" dirty="0"/>
          </a:p>
          <a:p>
            <a:pPr algn="ctr" indent="0" marL="0">
              <a:buNone/>
            </a:pPr>
            <a:r>
              <a:rPr lang="en-US" sz="1733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Viswas (26B21CS078)</a:t>
            </a:r>
            <a:endParaRPr lang="en-US" sz="1733" dirty="0"/>
          </a:p>
        </p:txBody>
      </p:sp>
      <p:sp>
        <p:nvSpPr>
          <p:cNvPr id="6" name="Text 4"/>
          <p:cNvSpPr txBox="1"/>
          <p:nvPr/>
        </p:nvSpPr>
        <p:spPr>
          <a:xfrm>
            <a:off x="609585" y="5352154"/>
            <a:ext cx="10972526" cy="8534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University</a:t>
            </a:r>
            <a:endParaRPr lang="en-US" sz="16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2 Outline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1828754" y="1267936"/>
            <a:ext cx="8534187" cy="512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133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ER Diagram</a:t>
            </a:r>
            <a:endParaRPr lang="en-US" sz="2133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133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 &amp; Cardinality</a:t>
            </a:r>
            <a:endParaRPr lang="en-US" sz="2133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133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Tables in Oracle (DDL)</a:t>
            </a:r>
            <a:endParaRPr lang="en-US" sz="2133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133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&amp; Constraints</a:t>
            </a:r>
            <a:endParaRPr lang="en-US" sz="2133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133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– 15 Records per Table</a:t>
            </a:r>
            <a:endParaRPr lang="en-US" sz="2133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133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Basic SQL Queries with Output</a:t>
            </a:r>
            <a:endParaRPr lang="en-US" sz="2133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133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Advanced SQL Queries with Output</a:t>
            </a:r>
            <a:endParaRPr lang="en-US" sz="2133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133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up to 3NF</a:t>
            </a:r>
            <a:endParaRPr lang="en-US" sz="2133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133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1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Complete ER Diagram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pic>
        <p:nvPicPr>
          <p:cNvPr id="4" name="Image 0" descr="er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086" y="1024102"/>
            <a:ext cx="9387605" cy="52302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Relationships &amp; Cardinality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7668" y="1328895"/>
          <a:ext cx="11216360" cy="914400"/>
        </p:xfrm>
        <a:graphic>
          <a:graphicData uri="http://schemas.openxmlformats.org/drawingml/2006/table">
            <a:tbl>
              <a:tblPr/>
              <a:tblGrid>
                <a:gridCol w="3896209"/>
                <a:gridCol w="1534870"/>
                <a:gridCol w="5785280"/>
              </a:tblGrid>
              <a:tr h="5120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Cardinality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is implemented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5120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 – Reservation (Makes)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: M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Reservation.Passenger_ID (FK → Passenger)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– Reservation (For)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: M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Reservation.Train_ID (FK → Train)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5120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Reservation – Payment (Has)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: 1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Payment.PNR (FK, UNIQUE → Reservation)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– Schedule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: M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Schedule.Train_ID (FK → Train)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5120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 – Schedule (At)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: M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Schedule.Station_ID (FK → Station)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– Station (via Schedule)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: N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Derived: SCHEDULE holds Train_ID and Station_ID</a:t>
                      </a:r>
                      <a:endParaRPr lang="en-US" sz="14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87668" y="5230237"/>
            <a:ext cx="11216360" cy="731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is the associative (bridge) table: a train halts at many stations and a station serves many trains.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Oracle Tables – CREATE TABLE (1/3)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146019"/>
            <a:ext cx="5486263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</a:t>
            </a:r>
            <a:endParaRPr lang="en-US" sz="1467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1487387"/>
            <a:ext cx="5486263" cy="1799494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Passenger (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Passenger_ID NUMBER(5) PRIMARY KEY,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VARCHAR2(50) NOT NULL,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DOB    DATE NOT NULL,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Gender CHAR(1) CHECK (Gender IN ('M','F')),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Phone  VARCHAR2(10) NOT NULL UNIQUE,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VARCHAR2(60) UNIQUE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33" dirty="0"/>
          </a:p>
        </p:txBody>
      </p:sp>
      <p:sp>
        <p:nvSpPr>
          <p:cNvPr id="6" name="Text 4"/>
          <p:cNvSpPr txBox="1"/>
          <p:nvPr/>
        </p:nvSpPr>
        <p:spPr>
          <a:xfrm>
            <a:off x="6156806" y="1146019"/>
            <a:ext cx="5669138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467" dirty="0"/>
          </a:p>
        </p:txBody>
      </p:sp>
      <p:sp>
        <p:nvSpPr>
          <p:cNvPr id="7" name="Text 5"/>
          <p:cNvSpPr txBox="1"/>
          <p:nvPr/>
        </p:nvSpPr>
        <p:spPr>
          <a:xfrm>
            <a:off x="6156806" y="1487387"/>
            <a:ext cx="5669138" cy="1799494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Train (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Train_ID     NUMBER(5) PRIMARY KEY,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Train_Number VARCHAR2(5) NOT NULL UNIQUE,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Train_Name   VARCHAR2(50) NOT NULL,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Train_Type   VARCHAR2(20) CHECK (Train_Type IN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('Rajdhani','Shatabdi','Duronto','Superfast',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'Vande Bharat','Express'))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Oracle Tables – CREATE TABLE (2/3)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146019"/>
            <a:ext cx="5486263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</a:t>
            </a:r>
            <a:endParaRPr lang="en-US" sz="1467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1487387"/>
            <a:ext cx="5486263" cy="1193262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Station (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Station_ID   NUMBER(5) PRIMARY KEY,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Station_Name VARCHAR2(50) NOT NULL UNIQUE,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     VARCHAR2(60) NOT NULL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33" dirty="0"/>
          </a:p>
        </p:txBody>
      </p:sp>
      <p:sp>
        <p:nvSpPr>
          <p:cNvPr id="6" name="Text 4"/>
          <p:cNvSpPr txBox="1"/>
          <p:nvPr/>
        </p:nvSpPr>
        <p:spPr>
          <a:xfrm>
            <a:off x="6156806" y="1146019"/>
            <a:ext cx="5669138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467" dirty="0"/>
          </a:p>
        </p:txBody>
      </p:sp>
      <p:sp>
        <p:nvSpPr>
          <p:cNvPr id="7" name="Text 5"/>
          <p:cNvSpPr txBox="1"/>
          <p:nvPr/>
        </p:nvSpPr>
        <p:spPr>
          <a:xfrm>
            <a:off x="6156806" y="1487387"/>
            <a:ext cx="5669138" cy="2607804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Schedule (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Schedule_ID    NUMBER(5) PRIMARY KEY,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Train_ID       NUMBER(5) NOT NULL,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Station_ID     NUMBER(5) NOT NULL,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Arrival_Time   VARCHAR2(5) NOT NULL,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Departure_Time VARCHAR2(5) NOT NULL,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Platform       NUMBER(2) CHECK (Platform &gt; 0),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fk_sch_train FOREIGN KEY (Train_ID)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Train(Train_ID),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fk_sch_stn FOREIGN KEY (Station_ID)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Station(Station_ID)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Oracle Tables – CREATE TABLE (3/3)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146019"/>
            <a:ext cx="5486263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</a:t>
            </a:r>
            <a:endParaRPr lang="en-US" sz="1467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1487387"/>
            <a:ext cx="5486263" cy="361819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Reservation (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PNR          NUMBER(10) PRIMARY KEY,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Passenger_ID NUMBER(5) NOT NULL,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Train_ID     NUMBER(5) NOT NULL,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Booking_Date DATE NOT NULL,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Journey_Date DATE NOT NULL,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  VARCHAR2(3) CHECK (Class IN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('SL','3A','2A','1A','CC')),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VARCHAR2(10) CHECK (Status IN ('Confirmed',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'Waiting','RAC','Cancelled')),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Fare   NUMBER(8,2) CHECK (Fare &gt; 0),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chk_dates CHECK (Journey_Date &gt;= Booking_Date),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fk_res_pass FOREIGN KEY (Passenger_ID)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Passenger(Passenger_ID),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fk_res_train FOREIGN KEY (Train_ID)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Train(Train_ID)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33" dirty="0"/>
          </a:p>
        </p:txBody>
      </p:sp>
      <p:sp>
        <p:nvSpPr>
          <p:cNvPr id="6" name="Text 4"/>
          <p:cNvSpPr txBox="1"/>
          <p:nvPr/>
        </p:nvSpPr>
        <p:spPr>
          <a:xfrm>
            <a:off x="6156806" y="1146019"/>
            <a:ext cx="5669138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467" dirty="0"/>
          </a:p>
        </p:txBody>
      </p:sp>
      <p:sp>
        <p:nvSpPr>
          <p:cNvPr id="7" name="Text 5"/>
          <p:cNvSpPr txBox="1"/>
          <p:nvPr/>
        </p:nvSpPr>
        <p:spPr>
          <a:xfrm>
            <a:off x="6156806" y="1487387"/>
            <a:ext cx="5669138" cy="2607804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Payment (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Payment_ID   NUMBER(5) PRIMARY KEY,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PNR          NUMBER(10) NOT NULL UNIQUE,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Payment_Date DATE NOT NULL,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 NUMBER(8,2) CHECK (Amount &gt; 0),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 VARCHAR2(15) CHECK (Method IN ('UPI','Credit Card',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'Debit Card','Net Banking','Cash')),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VARCHAR2(10) CHECK (Status IN ('Success',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'Failed','Refunded')),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fk_pay_pnr FOREIGN KEY (PNR)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Reservation(PNR)</a:t>
            </a:r>
            <a:endParaRPr lang="en-US" sz="1133" dirty="0"/>
          </a:p>
          <a:p>
            <a:pPr indent="0" marL="0">
              <a:buNone/>
            </a:pPr>
            <a:r>
              <a:rPr lang="en-US" sz="11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Keys &amp; Constraints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51" y="1206978"/>
          <a:ext cx="11460193" cy="914400"/>
        </p:xfrm>
        <a:graphic>
          <a:graphicData uri="http://schemas.openxmlformats.org/drawingml/2006/table">
            <a:tbl>
              <a:tblPr/>
              <a:tblGrid>
                <a:gridCol w="1584920"/>
                <a:gridCol w="1584920"/>
                <a:gridCol w="2804090"/>
                <a:gridCol w="5486263"/>
              </a:tblGrid>
              <a:tr h="670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Foreign Key(s)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Constraints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670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NULL (Name, DOB, Phone); UNIQUE (Phone, Email); CHECK Gender IN (M,F)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Train_Number; CHECK Train_Type in allowed list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670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Station_Name; NOT NULL Location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Passenger_ID → Passenger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Train_ID → Train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Class, Status, Fare &gt; 0; CHECK Journey_Date &gt;= Booking_Date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670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Train_ID → Train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Station_ID → Station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NULL times; CHECK Platform &gt;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PNR → Reservation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PNR (1:1); CHECK Amount &gt; 0; CHECK Method, 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Inserting Sample Data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146019"/>
            <a:ext cx="11460193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INSERT statement (first row of each table)</a:t>
            </a:r>
            <a:endParaRPr lang="en-US" sz="1467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1487387"/>
            <a:ext cx="11460193" cy="1514209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9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Passenger VALUES (101,'Arjun Reddy',TO_DATE('1998-04-12','YYYY-MM-DD'),'M','9848012345','arjun.reddy@gmail.com');</a:t>
            </a:r>
            <a:endParaRPr lang="en-US" sz="933" dirty="0"/>
          </a:p>
          <a:p>
            <a:pPr indent="0" marL="0">
              <a:buNone/>
            </a:pPr>
            <a:r>
              <a:rPr lang="en-US" sz="9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Train VALUES (1001,'12301','Howrah Rajdhani','Rajdhani');</a:t>
            </a:r>
            <a:endParaRPr lang="en-US" sz="933" dirty="0"/>
          </a:p>
          <a:p>
            <a:pPr indent="0" marL="0">
              <a:buNone/>
            </a:pPr>
            <a:r>
              <a:rPr lang="en-US" sz="9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Station VALUES (201,'New Delhi','Delhi');</a:t>
            </a:r>
            <a:endParaRPr lang="en-US" sz="933" dirty="0"/>
          </a:p>
          <a:p>
            <a:pPr indent="0" marL="0">
              <a:buNone/>
            </a:pPr>
            <a:r>
              <a:rPr lang="en-US" sz="9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Reservation VALUES (2609100001,101,1001,TO_DATE('2026-09-05','YYYY-MM-DD'),</a:t>
            </a:r>
            <a:endParaRPr lang="en-US" sz="933" dirty="0"/>
          </a:p>
          <a:p>
            <a:pPr indent="0" marL="0">
              <a:buNone/>
            </a:pPr>
            <a:r>
              <a:rPr lang="en-US" sz="9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TO_DATE('2026-10-10','YYYY-MM-DD'),'2A','Confirmed',3250);</a:t>
            </a:r>
            <a:endParaRPr lang="en-US" sz="933" dirty="0"/>
          </a:p>
          <a:p>
            <a:pPr indent="0" marL="0">
              <a:buNone/>
            </a:pPr>
            <a:r>
              <a:rPr lang="en-US" sz="9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Schedule VALUES (301,1001,201,'16:50','17:00',3);</a:t>
            </a:r>
            <a:endParaRPr lang="en-US" sz="933" dirty="0"/>
          </a:p>
          <a:p>
            <a:pPr indent="0" marL="0">
              <a:buNone/>
            </a:pPr>
            <a:r>
              <a:rPr lang="en-US" sz="9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Payment VALUES (501,2609100001,TO_DATE('2026-09-05','YYYY-MM-DD'),3250,'UPI','Success');</a:t>
            </a:r>
            <a:endParaRPr lang="en-US" sz="933" dirty="0"/>
          </a:p>
          <a:p>
            <a:pPr indent="0" marL="0">
              <a:buNone/>
            </a:pPr>
            <a:r>
              <a:rPr lang="en-US" sz="933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933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4864486"/>
            <a:ext cx="11460193" cy="97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tables (Passenger, Train, Station) are loaded first, then Reservation, Schedule and Payment so that every foreign key finds its parent row. Each table holds 15 records (90 in total).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 PASSENGER Table – 15 Records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6709" y="1085061"/>
          <a:ext cx="11338277" cy="914400"/>
        </p:xfrm>
        <a:graphic>
          <a:graphicData uri="http://schemas.openxmlformats.org/drawingml/2006/table">
            <a:tbl>
              <a:tblPr/>
              <a:tblGrid>
                <a:gridCol w="1744350"/>
                <a:gridCol w="2242736"/>
                <a:gridCol w="1370561"/>
                <a:gridCol w="996772"/>
                <a:gridCol w="1495157"/>
                <a:gridCol w="3488700"/>
              </a:tblGrid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Passenger_ID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DOB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Arjun Reddy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12-APR-98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9848012345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arjun.reddy@gmail.com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Sneha Sharma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23-JUL-00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9849123456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sneha.sharma@gmail.com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Karthik Varma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05-NOV-95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9866234567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karthik.varma@gmail.com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Lakshmi Prasanna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18-FEB-92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9867345678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lakshmi.prasanna@gmail.com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Rahul Verma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30-SEP-99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9885456789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rahul.verma@gmail.com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Nair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14-JAN-01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9885567890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priya.nair@gmail.com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 Kiran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25-JUN-97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9912678901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sai.kiran@gmail.com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Anjali Devi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08-DEC-90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9912789012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anjali.devi@gmail.com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Mohammed Imran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19-MAR-94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9959890123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mohammed.imran@gmail.com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Divya Chowdary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02-AUG-02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9959901234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divya.chowdary@gmail.com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Venkatesh Rao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27-MAY-88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9701012345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venkatesh.rao@gmail.com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Harika Yadav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11-OCT-96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9701123456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harika.yadav@gmail.com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Suresh Kumar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07-JUL-85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9640234567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suresh.kumar@gmail.com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Pooja Singh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21-APR-99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9640345678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pooja.singh@gmail.com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Naveen Babu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09-FEB-03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9490456789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naveen.babu@gmail.com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 TRAIN Table – 15 Records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6709" y="1085061"/>
          <a:ext cx="11338277" cy="914400"/>
        </p:xfrm>
        <a:graphic>
          <a:graphicData uri="http://schemas.openxmlformats.org/drawingml/2006/table">
            <a:tbl>
              <a:tblPr/>
              <a:tblGrid>
                <a:gridCol w="1717921"/>
                <a:gridCol w="2405089"/>
                <a:gridCol w="4810178"/>
                <a:gridCol w="2405089"/>
              </a:tblGrid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Train_ID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Train_Number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Train_Name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Train_Type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Rajdhani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Rajdhani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Bhopal Shatabdi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Shatabdi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12723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Telangana Express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Superfast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Kerala Express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Superfast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12245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Duronto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Duronto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20833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Visakhapatnam Vande Bharat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Vande Bharat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12727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Godavari Express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Superfast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12841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Coromandel Express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Superfast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12760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Charminar Express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 Express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12717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Ratnachalam Express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Superfast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Falaknuma Express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Superfast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12649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Karnataka Sampark Kranti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Mumbai Shatabdi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Shatabdi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22691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Bengaluru Rajdhani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Rajdhani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6.3 STATION Table – 15 Records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6709" y="1085061"/>
          <a:ext cx="11338277" cy="914400"/>
        </p:xfrm>
        <a:graphic>
          <a:graphicData uri="http://schemas.openxmlformats.org/drawingml/2006/table">
            <a:tbl>
              <a:tblPr/>
              <a:tblGrid>
                <a:gridCol w="1916328"/>
                <a:gridCol w="4471433"/>
                <a:gridCol w="4950515"/>
              </a:tblGrid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Station_ID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Station_Name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Delhi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Delhi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Junction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Howrah, West Bengal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Chennai Central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Chennai, Tamil Nadu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Secunderabad Junction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Hyderabad, Telangana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Vijayawada Junction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Vijayawada, Andhra Pradesh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Visakhapatnam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Visakhapatnam, Andhra Pradesh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Mumbai CSMT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Mumbai, Maharashtra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Bengaluru City Junction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Bengaluru, Karnataka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Bhopal Junction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Bhopal, Madhya Pradesh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Nagpur Junction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Nagpur, Maharashtra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Guntur Junction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Guntur, Andhra Pradesh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Tirupati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Tirupati, Andhra Pradesh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Rajahmundry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Rajahmundry, Andhra Pradesh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Warangal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Warangal, Telangana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Thiruvananthapuram Central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Thiruvananthapuram, Kerala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6.4 RESERVATION Table – 15 Records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6709" y="1085061"/>
          <a:ext cx="11338277" cy="914400"/>
        </p:xfrm>
        <a:graphic>
          <a:graphicData uri="http://schemas.openxmlformats.org/drawingml/2006/table">
            <a:tbl>
              <a:tblPr/>
              <a:tblGrid>
                <a:gridCol w="1546129"/>
                <a:gridCol w="1803817"/>
                <a:gridCol w="1288441"/>
                <a:gridCol w="1803817"/>
                <a:gridCol w="1803817"/>
                <a:gridCol w="901908"/>
                <a:gridCol w="1417285"/>
                <a:gridCol w="773064"/>
              </a:tblGrid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PNR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Passenger_ID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Train_ID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Booking_Date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Journey_Date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Fare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10-OCT-26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12-OCT-26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15-OCT-26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11-OCT-26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14-OCT-26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18-OCT-26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20-OCT-26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Cancelled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22-OCT-26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RAC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25-OCT-26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16-OCT-26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28-OCT-26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30-OCT-26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Cancelled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02-NOV-26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05-NOV-26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08-NOV-26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 SCHEDULE Table – 15 Records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6709" y="1085061"/>
          <a:ext cx="11338277" cy="914400"/>
        </p:xfrm>
        <a:graphic>
          <a:graphicData uri="http://schemas.openxmlformats.org/drawingml/2006/table">
            <a:tbl>
              <a:tblPr/>
              <a:tblGrid>
                <a:gridCol w="1965301"/>
                <a:gridCol w="1511770"/>
                <a:gridCol w="1814124"/>
                <a:gridCol w="2116478"/>
                <a:gridCol w="2418832"/>
                <a:gridCol w="1511770"/>
              </a:tblGrid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Schedule_ID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Train_ID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Station_ID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Arrival_Time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Departure_Time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16:50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17:00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09:55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08:10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08:15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06:00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06:10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17:30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17:50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19:20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19:22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12:15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12:30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20:05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20:20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05:45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06:00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21:10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21:15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14:30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14:45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18:00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18:15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22:30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22:40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06:30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06:40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21:00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21:10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6.6 PAYMENT Table – 15 Records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6709" y="1085061"/>
          <a:ext cx="11338277" cy="914400"/>
        </p:xfrm>
        <a:graphic>
          <a:graphicData uri="http://schemas.openxmlformats.org/drawingml/2006/table">
            <a:tbl>
              <a:tblPr/>
              <a:tblGrid>
                <a:gridCol w="1971874"/>
                <a:gridCol w="1971874"/>
                <a:gridCol w="2300520"/>
                <a:gridCol w="1314583"/>
                <a:gridCol w="2136197"/>
                <a:gridCol w="1643228"/>
              </a:tblGrid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Payment_ID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PNR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Payment_Date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Debit Card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Card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Banking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2609100007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Debit Card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Refunded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2609100008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Card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2609100009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Banking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2609100011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Card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2609100012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Refunded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2609100013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Debit Card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2609100014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UPI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29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2609100015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19-SEP-26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2650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Banking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7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67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Query 1: Female Passengers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the names and phone numbers of all female passengers.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943637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Phone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Passenger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Gender = 'F'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Name;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(7 rows)</a:t>
            </a:r>
            <a:endParaRPr lang="en-US" sz="1467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3364908"/>
                <a:gridCol w="2243272"/>
              </a:tblGrid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Anjali Devi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9912789012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Divya Chowdary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9959901234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Harika Yadav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9701123456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Lakshmi Prasanna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9867345678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Pooja Singh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9640345678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Nair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9885567890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Sneha Sharma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9849123456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Query 2: Superfast Trains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Superfast trains with their train numbers.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753447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Train_Number, Train_Name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Train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Train_Type = 'Superfast';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(6 rows)</a:t>
            </a:r>
            <a:endParaRPr lang="en-US" sz="1467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2243272"/>
                <a:gridCol w="3364908"/>
              </a:tblGrid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TRAIN_NUMBER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TRAIN_NAME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12723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Telangana Express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12626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Kerala Express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12727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Godavari Express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12841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Coromandel Express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12717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Ratnachalam Express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12703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Falaknuma Express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Query 3: High-Fare Confirmed Bookings</a:t>
            </a:r>
            <a:endParaRPr lang="en-US" sz="2133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confirmed reservations with fare greater than 1500.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1133828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PNR, Class, Status, Fare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Reservation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 = 'Confirmed'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Fare &gt; 1500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Fare DESC;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(5 rows)</a:t>
            </a:r>
            <a:endParaRPr lang="en-US" sz="1467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1869393"/>
                <a:gridCol w="1090479"/>
                <a:gridCol w="1713610"/>
                <a:gridCol w="934697"/>
              </a:tblGrid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PNR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1A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2A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2609100009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2609100003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Query 4: Reservations per Status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number of reservations for each status.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943637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Status,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AS Total_Reservations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Reservation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Status;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(4 rows)</a:t>
            </a:r>
            <a:endParaRPr lang="en-US" sz="1467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1989999"/>
                <a:gridCol w="3618181"/>
              </a:tblGrid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TOTAL_RESERVATIONS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Cancelled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RAC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Query 5: UPI Payments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all payments made through UPI.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753447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Payment_ID, PNR, Amount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Payment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Method = 'UPI';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(5 rows)</a:t>
            </a:r>
            <a:endParaRPr lang="en-US" sz="1467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2103067"/>
                <a:gridCol w="2103067"/>
                <a:gridCol w="1402045"/>
              </a:tblGrid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PAYMENT_ID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PNR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2609100004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2609100006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2609100012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2609100014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Query 6: Stations in Andhra Pradesh</a:t>
            </a:r>
            <a:endParaRPr lang="en-US" sz="2133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stations located in Andhra Pradesh.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753447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Station_Name, Location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Station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Location LIKE '%Andhra Pradesh%';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(5 rows)</a:t>
            </a:r>
            <a:endParaRPr lang="en-US" sz="1467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2264842"/>
                <a:gridCol w="3343338"/>
              </a:tblGrid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STATION_NAME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Vijayawada Junction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Vijayawada, Andhra Pradesh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Visakhapatnam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Visakhapatnam, Andhra Pradesh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Guntur Junction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Guntur, Andhra Pradesh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Tirupati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Tirupati, Andhra Pradesh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Rajahmundry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Rajahmundry, Andhra Pradesh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Query 7: Fare Statistics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total bookings, total fare, average fare and highest fare.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1133828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Total_Bookings,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SUM(Fare) AS Total_Fare,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ROUND(AVG(Fare),2) AS Avg_Fare,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MAX(Fare) AS Max_Fare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Reservation;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(1 row)</a:t>
            </a:r>
            <a:endParaRPr lang="en-US" sz="1467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1869393"/>
                <a:gridCol w="1402045"/>
                <a:gridCol w="1168371"/>
                <a:gridCol w="1168371"/>
              </a:tblGrid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TOTAL_BOOKINGS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TOTAL_FARE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AVG_FARE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MAX_FARE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26270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1751.33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Query 1: Three-Table Join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each reservation with passenger name, train name, journey date, class and status (JOIN of 3 tables).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1704399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p.Name, t.Train_Name,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r.Journey_Date, r.Class, r.Status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Reservation r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Passenger p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r.Passenger_ID = p.Passenger_ID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Train t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r.Train_ID = t.Train_ID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r.Journey_Date;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(15 rows)</a:t>
            </a:r>
            <a:endParaRPr lang="en-US" sz="1467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1294195"/>
                <a:gridCol w="2013193"/>
                <a:gridCol w="1006596"/>
                <a:gridCol w="503298"/>
                <a:gridCol w="790897"/>
              </a:tblGrid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JOURNEY_DATE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Arjun Reddy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Rajdhani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Lakshmi Prasanna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Bhopal Shatabdi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Sneha Sharma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Telangana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Rahul Verma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Visakhapatnam Vande Bharat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Karthik Varma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Kerala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Divya Chowdary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Charminar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Nair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Godavari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 Kiran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Coromandel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Arjun Reddy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Mohammed Imran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Duronto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Venkatesh Rao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Rajdhani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Karthik Varma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Falaknuma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30-OCT-26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Rahul Verma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Ratnachalam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02-NOV-26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Harika Yadav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Telangana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05-NOV-26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Suresh Kumar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Bengaluru Rajdhani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08-NOV-26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Query 2: Confirmed &amp; Paid Passengers</a:t>
            </a:r>
            <a:endParaRPr lang="en-US" sz="2133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payment details of passengers whose reservation is Confirmed and payment is Successful.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1704399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p.Name, r.PNR, py.Method,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py.Amount, py.Status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Passenger p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Reservation r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p.Passenger_ID = r.Passenger_ID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Payment py ON r.PNR = py.PNR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r.Status = 'Confirmed'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py.Status = 'Success';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(10 rows)</a:t>
            </a:r>
            <a:endParaRPr lang="en-US" sz="1467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1682454"/>
                <a:gridCol w="1121636"/>
                <a:gridCol w="1215106"/>
                <a:gridCol w="747757"/>
                <a:gridCol w="841227"/>
              </a:tblGrid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PNR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Arjun Reddy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Sneha Sharma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2609100002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Debit Card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Karthik Varma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2609100003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Card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Lakshmi Prasanna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2609100004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Nair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2609100006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Mohammed Imran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2609100009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Banking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Divya Chowdary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Venkatesh Rao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Card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Rahul Verma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2609100013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Debit Card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Suresh Kumar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Banking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Query 3: Train-wise Revenue (HAVING)</a:t>
            </a:r>
            <a:endParaRPr lang="en-US" sz="2133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train-wise successful bookings and revenue, showing only trains with revenue above 2500 (GROUP BY + HAVING).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227497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t.Train_Name,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COUNT(r.PNR) AS Bookings,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SUM(py.Amount) AS Revenue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Train t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Reservation r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t.Train_ID = r.Train_ID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Payment py ON r.PNR = py.PNR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py.Status = 'Success'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t.Train_Name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SUM(py.Amount) &gt; 2500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(2 rows)</a:t>
            </a:r>
            <a:endParaRPr lang="en-US" sz="1467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2875990"/>
                <a:gridCol w="1437995"/>
                <a:gridCol w="1294195"/>
              </a:tblGrid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TRAIN_NAME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Rajdhani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Bengaluru Rajdhani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Query 4: Fares Above Average (Subquery)</a:t>
            </a:r>
            <a:endParaRPr lang="en-US" sz="2133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reservations whose fare is above the average fare (SUBQUERY).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1514209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r.PNR, p.Name, r.Fare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Reservation r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Passenger p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r.Passenger_ID = p.Passenger_ID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r.Fare &gt; (SELECT AVG(Fare)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FROM Reservation)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r.Fare DESC;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(6 rows)</a:t>
            </a:r>
            <a:endParaRPr lang="en-US" sz="1467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1979358"/>
                <a:gridCol w="2639143"/>
                <a:gridCol w="989679"/>
              </a:tblGrid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PNR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Venkatesh Rao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Arjun Reddy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Suresh Kumar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2609100009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Mohammed Imran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Rahul Verma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2609100003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Karthik Varma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Query 5: Passengers Without Bookings</a:t>
            </a:r>
            <a:endParaRPr lang="en-US" sz="2133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passengers who have never made a reservation (NOT EXISTS).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1133828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p.Passenger_ID, p.Name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Passenger p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EXISTS (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1 FROM Reservation r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r.Passenger_ID = p.Passenger_ID);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(3 rows)</a:t>
            </a:r>
            <a:endParaRPr lang="en-US" sz="1467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2907945"/>
                <a:gridCol w="2700235"/>
              </a:tblGrid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PASSENGER_ID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Anjali Devi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Pooja Singh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Naveen Babu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Query 6: Platform-wise Schedule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train schedules at platforms 1 to 5 with train and station names.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1894589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t.Train_Name, s.Station_Name,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sc.Arrival_Time, sc.Departure_Time,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sc.Platform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Schedule sc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Train t ON sc.Train_ID = t.Train_ID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Station s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sc.Station_ID = s.Station_ID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sc.Platform BETWEEN 1 AND 5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sc.Platform;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(10 rows)</a:t>
            </a:r>
            <a:endParaRPr lang="en-US" sz="1467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1635719"/>
                <a:gridCol w="1635719"/>
                <a:gridCol w="817860"/>
                <a:gridCol w="934697"/>
                <a:gridCol w="584185"/>
              </a:tblGrid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TRAIN_NAME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STATION_NAME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ARRIVAL_TIME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DEPARTURE_TIME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Bhopal Shatabdi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Bhopal Junction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08:10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08:15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Kerala Express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Thiruvananthapuram Central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12:15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12:30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Visakhapatnam Vande Bharat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Visakhapatnam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05:45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06:00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Bhopal Shatabdi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Delhi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06:00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06:10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Telangana Express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Warangal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19:20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19:22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Ratnachalam Express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Tirupati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22:30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22:40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Rajdhani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Delhi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17:00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 Express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Visakhapatnam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18:00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18:15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Godavari Express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Vijayawada Junction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21:10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21:15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Telangana Express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Secunderabad Junction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17:30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17:50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Query 7: Train Ranking (RANK)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trains by number of reservations (INLINE VIEW + RANK window function).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1514209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Train_Name, Bookings,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RANK() OVER (ORDER BY Bookings DESC) AS Rnk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(SELECT t.Train_Name, COUNT(*) AS Bookings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 Train t JOIN Reservation r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 t.Train_ID = r.Train_ID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GROUP BY t.Train_Name)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Rnk, Train_Name;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(13 rows)</a:t>
            </a:r>
            <a:endParaRPr lang="en-US" sz="1467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3651838"/>
                <a:gridCol w="1304228"/>
                <a:gridCol w="652114"/>
              </a:tblGrid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Rajdhani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Telangana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Bengaluru Rajdhani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Bhopal Shatabdi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Charminar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Coromandel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Falaknuma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Godavari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Duronto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Kerala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Ratnachalam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286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Visakhapatnam Vande Bharat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Query 8: Fare Categories (CASE)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5608180" cy="103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Categorise fares as Low, Medium or High and show count and total per category (CASE).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51" y="2182313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1467" dirty="0"/>
          </a:p>
        </p:txBody>
      </p:sp>
      <p:sp>
        <p:nvSpPr>
          <p:cNvPr id="6" name="Text 4"/>
          <p:cNvSpPr txBox="1"/>
          <p:nvPr/>
        </p:nvSpPr>
        <p:spPr>
          <a:xfrm>
            <a:off x="365751" y="2523681"/>
            <a:ext cx="5608180" cy="1894589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67732" tIns="101597" rIns="101597" bIns="67732" rtlCol="0" anchor="t"/>
          <a:lstStyle/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CASE WHEN Fare &lt; 1000 THEN 'Low'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WHEN Fare &lt;= 2500 THEN 'Medium'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 'High' END AS Fare_Category,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AS Reservations,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SUM(Fare) AS Total_Fare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Reservation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CASE WHEN Fare &lt; 1000 THEN 'Low'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WHEN Fare &lt;= 2500 THEN 'Medium'</a:t>
            </a:r>
            <a:endParaRPr lang="en-US" sz="1067" dirty="0"/>
          </a:p>
          <a:p>
            <a:pPr indent="0" marL="0">
              <a:buNone/>
            </a:pPr>
            <a:r>
              <a:rPr lang="en-US" sz="1067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ELSE 'High' END;</a:t>
            </a:r>
            <a:endParaRPr lang="en-US" sz="1067" dirty="0"/>
          </a:p>
        </p:txBody>
      </p:sp>
      <p:sp>
        <p:nvSpPr>
          <p:cNvPr id="7" name="Text 5"/>
          <p:cNvSpPr txBox="1"/>
          <p:nvPr/>
        </p:nvSpPr>
        <p:spPr>
          <a:xfrm>
            <a:off x="6217765" y="1085061"/>
            <a:ext cx="5608180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(3 rows)</a:t>
            </a:r>
            <a:endParaRPr lang="en-US" sz="1467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765" y="1450812"/>
          <a:ext cx="5608180" cy="914400"/>
        </p:xfrm>
        <a:graphic>
          <a:graphicData uri="http://schemas.openxmlformats.org/drawingml/2006/table">
            <a:tbl>
              <a:tblPr/>
              <a:tblGrid>
                <a:gridCol w="2051773"/>
                <a:gridCol w="1914988"/>
                <a:gridCol w="1641418"/>
              </a:tblGrid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FARE_CATEGORY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RESERVATIONS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TOTAL_FARE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11300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413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11640</a:t>
                      </a:r>
                      <a:endParaRPr lang="en-US" sz="11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Normalization – 1NF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1146019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UNF: a passenger row stores several PNRs / trains in one cell (repeating group).</a:t>
            </a:r>
            <a:endParaRPr lang="en-US" sz="1467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51" y="1511770"/>
          <a:ext cx="11460193" cy="914400"/>
        </p:xfrm>
        <a:graphic>
          <a:graphicData uri="http://schemas.openxmlformats.org/drawingml/2006/table">
            <a:tbl>
              <a:tblPr/>
              <a:tblGrid>
                <a:gridCol w="1823213"/>
                <a:gridCol w="1953442"/>
                <a:gridCol w="3125507"/>
                <a:gridCol w="4558032"/>
              </a:tblGrid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PNR_List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Train_List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Arjun Reddy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2609100001, 2609100008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Rajdhani, Visakha Express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Karthik Varma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2609100003, 2609100012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Kerala Express, Falaknuma Express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51" y="2730940"/>
            <a:ext cx="1146019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1NF: atomic values, one PNR per row (primary key = PNR).</a:t>
            </a:r>
            <a:endParaRPr lang="en-US" sz="1467" dirty="0"/>
          </a:p>
        </p:txBody>
      </p:sp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51" y="3157649"/>
          <a:ext cx="11460193" cy="914400"/>
        </p:xfrm>
        <a:graphic>
          <a:graphicData uri="http://schemas.openxmlformats.org/drawingml/2006/table">
            <a:tbl>
              <a:tblPr/>
              <a:tblGrid>
                <a:gridCol w="2292039"/>
                <a:gridCol w="2674045"/>
                <a:gridCol w="2865048"/>
                <a:gridCol w="3629061"/>
              </a:tblGrid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Arjun Reddy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Rajdhani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Arjun Reddy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 Express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Karthik Varma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Kerala Express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Karthik Varma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Falaknuma Express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65751" y="5474071"/>
            <a:ext cx="11460193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One value in every field    ✓ No repeating groups    ✓ Every reservation identified by a unique PNR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Normalization – 2NF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1146019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(Train_ID, Station_ID) with composite key contains partial dependencies:</a:t>
            </a:r>
            <a:endParaRPr lang="en-US" sz="1467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51" y="1511770"/>
          <a:ext cx="11460193" cy="914400"/>
        </p:xfrm>
        <a:graphic>
          <a:graphicData uri="http://schemas.openxmlformats.org/drawingml/2006/table">
            <a:tbl>
              <a:tblPr/>
              <a:tblGrid>
                <a:gridCol w="1332581"/>
                <a:gridCol w="1599097"/>
                <a:gridCol w="2265387"/>
                <a:gridCol w="2265387"/>
                <a:gridCol w="1199323"/>
                <a:gridCol w="1465839"/>
                <a:gridCol w="1332581"/>
              </a:tblGrid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Station_Name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Arrival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Rajdhani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Delhi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Rajdhani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Junction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Bhopal Shatabdi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Delhi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06:00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06:10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51" y="3035732"/>
            <a:ext cx="1146019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BE4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Train_ID → Train_Name   |   Station_ID → Station_Name   (depend on part of the key)</a:t>
            </a:r>
            <a:endParaRPr lang="en-US" sz="1467" dirty="0"/>
          </a:p>
        </p:txBody>
      </p:sp>
      <p:sp>
        <p:nvSpPr>
          <p:cNvPr id="7" name="Text 4"/>
          <p:cNvSpPr txBox="1"/>
          <p:nvPr/>
        </p:nvSpPr>
        <p:spPr>
          <a:xfrm>
            <a:off x="365751" y="3523400"/>
            <a:ext cx="1146019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 into 2NF:</a:t>
            </a:r>
            <a:endParaRPr lang="en-US" sz="1467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51" y="3950109"/>
          <a:ext cx="11460193" cy="914400"/>
        </p:xfrm>
        <a:graphic>
          <a:graphicData uri="http://schemas.openxmlformats.org/drawingml/2006/table">
            <a:tbl>
              <a:tblPr/>
              <a:tblGrid>
                <a:gridCol w="2090711"/>
                <a:gridCol w="2400446"/>
                <a:gridCol w="6969037"/>
              </a:tblGrid>
              <a:tr h="6095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6095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Train_ID (PK), Train_Name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Station_ID (PK), Station_Name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Schedule_ID (PK), Train_ID (FK), Station_ID (FK), Arrival_Time, Departure_Time, Platform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65751" y="5474071"/>
            <a:ext cx="11460193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Partial dependencies removed    ✓ Train and station names stored only once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Normalization – 3NF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365751" y="1085061"/>
            <a:ext cx="1146019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Reservation_Flat contains transitive dependencies:</a:t>
            </a:r>
            <a:endParaRPr lang="en-US" sz="1467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51" y="1511770"/>
          <a:ext cx="11460193" cy="914400"/>
        </p:xfrm>
        <a:graphic>
          <a:graphicData uri="http://schemas.openxmlformats.org/drawingml/2006/table">
            <a:tbl>
              <a:tblPr/>
              <a:tblGrid>
                <a:gridCol w="1580716"/>
                <a:gridCol w="1844169"/>
                <a:gridCol w="2107622"/>
                <a:gridCol w="1317264"/>
                <a:gridCol w="2239348"/>
                <a:gridCol w="1580716"/>
                <a:gridCol w="790358"/>
              </a:tblGrid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Passenger_Name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Arjun Reddy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Rajdhani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Rajdhani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Arjun Reddy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Visakha Express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3657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2609100011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Venkatesh Rao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Howrah Rajdhani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Rajdhani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51" y="3035732"/>
            <a:ext cx="1146019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BE4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PNR → Passenger_ID → Passenger_Name     PNR → Train_ID → Train_Name, Train_Type</a:t>
            </a:r>
            <a:endParaRPr lang="en-US" sz="1467" dirty="0"/>
          </a:p>
        </p:txBody>
      </p:sp>
      <p:sp>
        <p:nvSpPr>
          <p:cNvPr id="7" name="Text 4"/>
          <p:cNvSpPr txBox="1"/>
          <p:nvPr/>
        </p:nvSpPr>
        <p:spPr>
          <a:xfrm>
            <a:off x="365751" y="3523400"/>
            <a:ext cx="11460193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7" b="1" dirty="0">
                <a:solidFill>
                  <a:srgbClr val="344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 into 3NF:</a:t>
            </a:r>
            <a:endParaRPr lang="en-US" sz="1467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51" y="3950109"/>
          <a:ext cx="11460193" cy="914400"/>
        </p:xfrm>
        <a:graphic>
          <a:graphicData uri="http://schemas.openxmlformats.org/drawingml/2006/table">
            <a:tbl>
              <a:tblPr/>
              <a:tblGrid>
                <a:gridCol w="3009748"/>
                <a:gridCol w="3067628"/>
                <a:gridCol w="5382818"/>
              </a:tblGrid>
              <a:tr h="670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RESERVATION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670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Passenger_ID (PK), Name, DOB, Gender, Phone, Email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Train_ID (PK), Train_Number, Train_Name, Train_Type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PNR (PK), Passenger_ID (FK), Train_ID (FK), Booking_Date, Journey_Date, Class, Status, Fare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65751" y="5474071"/>
            <a:ext cx="11460193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Transitive dependencies removed    ✓ Passenger and train details updated in one place only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Final Schema Verified in 3NF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51" y="1267936"/>
          <a:ext cx="11460193" cy="914400"/>
        </p:xfrm>
        <a:graphic>
          <a:graphicData uri="http://schemas.openxmlformats.org/drawingml/2006/table">
            <a:tbl>
              <a:tblPr/>
              <a:tblGrid>
                <a:gridCol w="1732355"/>
                <a:gridCol w="7728968"/>
                <a:gridCol w="666290"/>
                <a:gridCol w="666290"/>
                <a:gridCol w="666290"/>
              </a:tblGrid>
              <a:tr h="548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 dependency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1NF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2NF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3NF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57F"/>
                    </a:solidFill>
                  </a:tcPr>
                </a:tc>
              </a:tr>
              <a:tr h="548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Passenger_ID → Name, DOB, Gender, Phone, Email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Train_ID → Train_Number, Train_Name, Train_Type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548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Station_ID → Station_Name, Location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RESERVATION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PNR → Passenger_ID, Train_ID, dates, Class, Status, Fare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  <a:tr h="548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Schedule_ID → Train_ID, Station_ID, times, Platform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Payment_ID → PNR, Payment_Date, Amount, Method, Status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33" dirty="0">
                          <a:solidFill>
                            <a:srgbClr val="2323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33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0958" marR="60958" marT="0" marB="0" anchor="ctr">
                    <a:lnL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51" y="5047362"/>
            <a:ext cx="11460193" cy="8534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non-key attribute depends on the key, the whole key and nothing but the key. Redundancy is avoided and PK–FK links keep the data consistent.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38339" y="146300"/>
            <a:ext cx="8290353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7" b="1" dirty="0">
                <a:solidFill>
                  <a:srgbClr val="BE4E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2 Conclusion</a:t>
            </a:r>
            <a:endParaRPr lang="en-US" sz="2667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6461598"/>
            <a:ext cx="7315017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7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 |  Railway Reservation Management System  |  Review 2</a:t>
            </a:r>
            <a:endParaRPr lang="en-US" sz="1067" dirty="0"/>
          </a:p>
        </p:txBody>
      </p:sp>
      <p:sp>
        <p:nvSpPr>
          <p:cNvPr id="4" name="Text 2"/>
          <p:cNvSpPr txBox="1"/>
          <p:nvPr/>
        </p:nvSpPr>
        <p:spPr>
          <a:xfrm>
            <a:off x="731502" y="1328895"/>
            <a:ext cx="10728692" cy="4754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Railway Reservation Management System was implemented in Oracle with proper keys and constraints, 15 sample records per table, 7 basic and 8 advanced SQL queries with outputs, and normalization up to 3NF.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achievements: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relational tables created with PK, FK and CHECK constraints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sample records inserted in every table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basic + 8 advanced queries executed and verified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32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normalized up to 3NF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360" y="6461598"/>
            <a:ext cx="487668" cy="304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67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850</TotalTime>
  <Words>3670</Words>
  <Application>Microsoft Office PowerPoint</Application>
  <PresentationFormat>Widescreen</PresentationFormat>
  <Paragraphs>575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Windows User</cp:lastModifiedBy>
  <cp:revision>811</cp:revision>
  <cp:lastPrinted>2023-06-09T04:58:00Z</cp:lastPrinted>
  <dcterms:created xsi:type="dcterms:W3CDTF">2019-12-14T03:50:00Z</dcterms:created>
  <dcterms:modified xsi:type="dcterms:W3CDTF">2026-08-17T05:45:55Z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C323A45F88CA49A9ABA8E43EBA54F955_12</vt:lpwstr>
  </property>
  <property fmtid="{D5CDD505-2E9C-101B-9397-08002B2CF9AE}" pid="3" name="KSOProductBuildVer">
    <vt:lpwstr>1033-12.2.0.21931</vt:lpwstr>
  </property>
</Properties>
</file>